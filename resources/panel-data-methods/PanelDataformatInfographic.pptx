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43"/>
  </p:normalViewPr>
  <p:slideViewPr>
    <p:cSldViewPr snapToGrid="0">
      <p:cViewPr varScale="1">
        <p:scale>
          <a:sx n="34" d="100"/>
          <a:sy n="34" d="100"/>
        </p:scale>
        <p:origin x="2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1"/>
            <a:ext cx="19431000" cy="7958667"/>
          </a:xfrm>
        </p:spPr>
        <p:txBody>
          <a:bodyPr anchor="b"/>
          <a:lstStyle>
            <a:lvl1pPr algn="ctr">
              <a:defRPr sz="15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6"/>
            <a:ext cx="17145000" cy="5519207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92" indent="0" algn="ctr">
              <a:buNone/>
              <a:defRPr sz="5000"/>
            </a:lvl2pPr>
            <a:lvl3pPr marL="2286184" indent="0" algn="ctr">
              <a:buNone/>
              <a:defRPr sz="4500"/>
            </a:lvl3pPr>
            <a:lvl4pPr marL="3429274" indent="0" algn="ctr">
              <a:buNone/>
              <a:defRPr sz="4000"/>
            </a:lvl4pPr>
            <a:lvl5pPr marL="4572366" indent="0" algn="ctr">
              <a:buNone/>
              <a:defRPr sz="4000"/>
            </a:lvl5pPr>
            <a:lvl6pPr marL="5715456" indent="0" algn="ctr">
              <a:buNone/>
              <a:defRPr sz="4000"/>
            </a:lvl6pPr>
            <a:lvl7pPr marL="6858548" indent="0" algn="ctr">
              <a:buNone/>
              <a:defRPr sz="4000"/>
            </a:lvl7pPr>
            <a:lvl8pPr marL="8001640" indent="0" algn="ctr">
              <a:buNone/>
              <a:defRPr sz="4000"/>
            </a:lvl8pPr>
            <a:lvl9pPr marL="9144732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4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5"/>
            <a:ext cx="19716750" cy="9509123"/>
          </a:xfrm>
        </p:spPr>
        <p:txBody>
          <a:bodyPr anchor="b"/>
          <a:lstStyle>
            <a:lvl1pPr>
              <a:defRPr sz="15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17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92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184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27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366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456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548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64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732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2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7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9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1217088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80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92" indent="0">
              <a:buNone/>
              <a:defRPr sz="5000" b="1"/>
            </a:lvl2pPr>
            <a:lvl3pPr marL="2286184" indent="0">
              <a:buNone/>
              <a:defRPr sz="4500" b="1"/>
            </a:lvl3pPr>
            <a:lvl4pPr marL="3429274" indent="0">
              <a:buNone/>
              <a:defRPr sz="4000" b="1"/>
            </a:lvl4pPr>
            <a:lvl5pPr marL="4572366" indent="0">
              <a:buNone/>
              <a:defRPr sz="4000" b="1"/>
            </a:lvl5pPr>
            <a:lvl6pPr marL="5715456" indent="0">
              <a:buNone/>
              <a:defRPr sz="4000" b="1"/>
            </a:lvl6pPr>
            <a:lvl7pPr marL="6858548" indent="0">
              <a:buNone/>
              <a:defRPr sz="4000" b="1"/>
            </a:lvl7pPr>
            <a:lvl8pPr marL="8001640" indent="0">
              <a:buNone/>
              <a:defRPr sz="4000" b="1"/>
            </a:lvl8pPr>
            <a:lvl9pPr marL="9144732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5603880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92" indent="0">
              <a:buNone/>
              <a:defRPr sz="5000" b="1"/>
            </a:lvl2pPr>
            <a:lvl3pPr marL="2286184" indent="0">
              <a:buNone/>
              <a:defRPr sz="4500" b="1"/>
            </a:lvl3pPr>
            <a:lvl4pPr marL="3429274" indent="0">
              <a:buNone/>
              <a:defRPr sz="4000" b="1"/>
            </a:lvl4pPr>
            <a:lvl5pPr marL="4572366" indent="0">
              <a:buNone/>
              <a:defRPr sz="4000" b="1"/>
            </a:lvl5pPr>
            <a:lvl6pPr marL="5715456" indent="0">
              <a:buNone/>
              <a:defRPr sz="4000" b="1"/>
            </a:lvl6pPr>
            <a:lvl7pPr marL="6858548" indent="0">
              <a:buNone/>
              <a:defRPr sz="4000" b="1"/>
            </a:lvl7pPr>
            <a:lvl8pPr marL="8001640" indent="0">
              <a:buNone/>
              <a:defRPr sz="4000" b="1"/>
            </a:lvl8pPr>
            <a:lvl9pPr marL="9144732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3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1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8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5" y="1524000"/>
            <a:ext cx="7372945" cy="5334000"/>
          </a:xfrm>
        </p:spPr>
        <p:txBody>
          <a:bodyPr anchor="b"/>
          <a:lstStyle>
            <a:lvl1pPr>
              <a:defRPr sz="8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1"/>
            <a:ext cx="11572875" cy="16245417"/>
          </a:xfrm>
        </p:spPr>
        <p:txBody>
          <a:bodyPr/>
          <a:lstStyle>
            <a:lvl1pPr>
              <a:defRPr sz="8001"/>
            </a:lvl1pPr>
            <a:lvl2pPr>
              <a:defRPr sz="7001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5" y="6858003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92" indent="0">
              <a:buNone/>
              <a:defRPr sz="3500"/>
            </a:lvl2pPr>
            <a:lvl3pPr marL="2286184" indent="0">
              <a:buNone/>
              <a:defRPr sz="3000"/>
            </a:lvl3pPr>
            <a:lvl4pPr marL="3429274" indent="0">
              <a:buNone/>
              <a:defRPr sz="2500"/>
            </a:lvl4pPr>
            <a:lvl5pPr marL="4572366" indent="0">
              <a:buNone/>
              <a:defRPr sz="2500"/>
            </a:lvl5pPr>
            <a:lvl6pPr marL="5715456" indent="0">
              <a:buNone/>
              <a:defRPr sz="2500"/>
            </a:lvl6pPr>
            <a:lvl7pPr marL="6858548" indent="0">
              <a:buNone/>
              <a:defRPr sz="2500"/>
            </a:lvl7pPr>
            <a:lvl8pPr marL="8001640" indent="0">
              <a:buNone/>
              <a:defRPr sz="2500"/>
            </a:lvl8pPr>
            <a:lvl9pPr marL="9144732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9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5" y="1524000"/>
            <a:ext cx="7372945" cy="5334000"/>
          </a:xfrm>
        </p:spPr>
        <p:txBody>
          <a:bodyPr anchor="b"/>
          <a:lstStyle>
            <a:lvl1pPr>
              <a:defRPr sz="8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1"/>
            <a:ext cx="11572875" cy="16245417"/>
          </a:xfrm>
        </p:spPr>
        <p:txBody>
          <a:bodyPr anchor="t"/>
          <a:lstStyle>
            <a:lvl1pPr marL="0" indent="0">
              <a:buNone/>
              <a:defRPr sz="8001"/>
            </a:lvl1pPr>
            <a:lvl2pPr marL="1143092" indent="0">
              <a:buNone/>
              <a:defRPr sz="7001"/>
            </a:lvl2pPr>
            <a:lvl3pPr marL="2286184" indent="0">
              <a:buNone/>
              <a:defRPr sz="6000"/>
            </a:lvl3pPr>
            <a:lvl4pPr marL="3429274" indent="0">
              <a:buNone/>
              <a:defRPr sz="5000"/>
            </a:lvl4pPr>
            <a:lvl5pPr marL="4572366" indent="0">
              <a:buNone/>
              <a:defRPr sz="5000"/>
            </a:lvl5pPr>
            <a:lvl6pPr marL="5715456" indent="0">
              <a:buNone/>
              <a:defRPr sz="5000"/>
            </a:lvl6pPr>
            <a:lvl7pPr marL="6858548" indent="0">
              <a:buNone/>
              <a:defRPr sz="5000"/>
            </a:lvl7pPr>
            <a:lvl8pPr marL="8001640" indent="0">
              <a:buNone/>
              <a:defRPr sz="5000"/>
            </a:lvl8pPr>
            <a:lvl9pPr marL="9144732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5" y="6858003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92" indent="0">
              <a:buNone/>
              <a:defRPr sz="3500"/>
            </a:lvl2pPr>
            <a:lvl3pPr marL="2286184" indent="0">
              <a:buNone/>
              <a:defRPr sz="3000"/>
            </a:lvl3pPr>
            <a:lvl4pPr marL="3429274" indent="0">
              <a:buNone/>
              <a:defRPr sz="2500"/>
            </a:lvl4pPr>
            <a:lvl5pPr marL="4572366" indent="0">
              <a:buNone/>
              <a:defRPr sz="2500"/>
            </a:lvl5pPr>
            <a:lvl6pPr marL="5715456" indent="0">
              <a:buNone/>
              <a:defRPr sz="2500"/>
            </a:lvl6pPr>
            <a:lvl7pPr marL="6858548" indent="0">
              <a:buNone/>
              <a:defRPr sz="2500"/>
            </a:lvl7pPr>
            <a:lvl8pPr marL="8001640" indent="0">
              <a:buNone/>
              <a:defRPr sz="2500"/>
            </a:lvl8pPr>
            <a:lvl9pPr marL="9144732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5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43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0" y="1217083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217083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9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8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7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42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E3049-9C51-F54F-8C49-1D0831D3284C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42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42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51729-EFEE-7E40-846F-34E9F987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4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286184" rtl="0" eaLnBrk="1" latinLnBrk="0" hangingPunct="1">
        <a:lnSpc>
          <a:spcPct val="90000"/>
        </a:lnSpc>
        <a:spcBef>
          <a:spcPct val="0"/>
        </a:spcBef>
        <a:buNone/>
        <a:defRPr sz="110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46" indent="-571546" algn="l" defTabSz="2286184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1" kern="1200">
          <a:solidFill>
            <a:schemeClr val="tx1"/>
          </a:solidFill>
          <a:latin typeface="+mn-lt"/>
          <a:ea typeface="+mn-ea"/>
          <a:cs typeface="+mn-cs"/>
        </a:defRPr>
      </a:lvl1pPr>
      <a:lvl2pPr marL="1714636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728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820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912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7004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30094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3186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6276" indent="-571546" algn="l" defTabSz="2286184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92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184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274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366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456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548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640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732" algn="l" defTabSz="2286184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24DD9E-99AA-AEBD-C83E-033B8F0E9237}"/>
              </a:ext>
            </a:extLst>
          </p:cNvPr>
          <p:cNvSpPr txBox="1"/>
          <p:nvPr/>
        </p:nvSpPr>
        <p:spPr>
          <a:xfrm>
            <a:off x="3158289" y="726244"/>
            <a:ext cx="16543421" cy="9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27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Does Panel Dataset Look Like?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F3848D-6A54-D9CF-BC84-A33DCC48FC18}"/>
              </a:ext>
            </a:extLst>
          </p:cNvPr>
          <p:cNvSpPr txBox="1"/>
          <p:nvPr/>
        </p:nvSpPr>
        <p:spPr>
          <a:xfrm>
            <a:off x="7755355" y="2307434"/>
            <a:ext cx="3124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Long Format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538E11-0585-5B35-B18D-F55B9A12AFA4}"/>
              </a:ext>
            </a:extLst>
          </p:cNvPr>
          <p:cNvSpPr txBox="1"/>
          <p:nvPr/>
        </p:nvSpPr>
        <p:spPr>
          <a:xfrm>
            <a:off x="9050754" y="15193133"/>
            <a:ext cx="4383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Wide Format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2124B2E-DDB4-7B7D-49D1-AFB72049B23A}"/>
              </a:ext>
            </a:extLst>
          </p:cNvPr>
          <p:cNvGrpSpPr/>
          <p:nvPr/>
        </p:nvGrpSpPr>
        <p:grpSpPr>
          <a:xfrm>
            <a:off x="16177460" y="5285248"/>
            <a:ext cx="6415839" cy="10606709"/>
            <a:chOff x="15784617" y="4646315"/>
            <a:chExt cx="6322030" cy="1060670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3D5118-8769-6C92-3327-733F468F7CDD}"/>
                </a:ext>
              </a:extLst>
            </p:cNvPr>
            <p:cNvSpPr txBox="1"/>
            <p:nvPr/>
          </p:nvSpPr>
          <p:spPr>
            <a:xfrm>
              <a:off x="17323346" y="6074688"/>
              <a:ext cx="4783301" cy="563231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7150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Note</a:t>
              </a:r>
              <a:r>
                <a:rPr lang="en-US" sz="4000" b="1" dirty="0">
                  <a:latin typeface="Calibri" panose="020F0502020204030204" pitchFamily="34" charset="0"/>
                  <a:cs typeface="Calibri" panose="020F0502020204030204" pitchFamily="34" charset="0"/>
                </a:rPr>
                <a:t>: </a:t>
              </a:r>
              <a:r>
                <a:rPr lang="en-US" sz="4000" dirty="0">
                  <a:latin typeface="Calibri" panose="020F0502020204030204" pitchFamily="34" charset="0"/>
                  <a:cs typeface="Calibri" panose="020F0502020204030204" pitchFamily="34" charset="0"/>
                </a:rPr>
                <a:t>The long and wide formats contain the same information. The difference lies only in how the data are organised. Most statistical software for panel data analysis use the long format.</a:t>
              </a:r>
            </a:p>
          </p:txBody>
        </p: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E67C7737-348E-3F34-BC9A-63AB2F8498DC}"/>
                </a:ext>
              </a:extLst>
            </p:cNvPr>
            <p:cNvCxnSpPr>
              <a:cxnSpLocks/>
            </p:cNvCxnSpPr>
            <p:nvPr/>
          </p:nvCxnSpPr>
          <p:spPr>
            <a:xfrm>
              <a:off x="15784617" y="4646315"/>
              <a:ext cx="1893785" cy="1373104"/>
            </a:xfrm>
            <a:prstGeom prst="bentConnector3">
              <a:avLst>
                <a:gd name="adj1" fmla="val 50000"/>
              </a:avLst>
            </a:prstGeom>
            <a:ln w="76200" cap="flat" cmpd="sng" algn="ctr">
              <a:solidFill>
                <a:schemeClr val="tx2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2B080AF3-5AD5-0B64-F1FA-4ECB71CAB3A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6861273" y="12579400"/>
              <a:ext cx="3490753" cy="1856496"/>
            </a:xfrm>
            <a:prstGeom prst="bentConnector3">
              <a:avLst>
                <a:gd name="adj1" fmla="val 50000"/>
              </a:avLst>
            </a:prstGeom>
            <a:ln w="76200" cap="flat" cmpd="sng" algn="ctr">
              <a:solidFill>
                <a:schemeClr val="tx2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90EAFC3B-4A1A-DB7F-E306-F4D00047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100" y="15962574"/>
            <a:ext cx="19544300" cy="525912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CB68043-1931-FB0F-CACF-431678F5E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100" y="3076875"/>
            <a:ext cx="14614360" cy="1173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6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4529</TotalTime>
  <Words>46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Waverley Paul</dc:creator>
  <cp:lastModifiedBy>Waverley Paul</cp:lastModifiedBy>
  <cp:revision>14</cp:revision>
  <dcterms:created xsi:type="dcterms:W3CDTF">2026-06-26T16:03:06Z</dcterms:created>
  <dcterms:modified xsi:type="dcterms:W3CDTF">2026-07-02T22:21:59Z</dcterms:modified>
</cp:coreProperties>
</file>